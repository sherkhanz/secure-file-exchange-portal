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647" r:id="rId4"/>
    <p:sldId id="686" r:id="rId5"/>
    <p:sldId id="701" r:id="rId6"/>
    <p:sldId id="702" r:id="rId7"/>
    <p:sldId id="262" r:id="rId8"/>
    <p:sldId id="6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378DD-9672-D1EC-0ADA-CC214C84E874}" v="220" dt="2026-04-21T22:05:19.989"/>
    <p1510:client id="{E0731374-615A-621B-6144-DE9D5AEEDB82}" v="194" dt="2026-04-21T21:42:40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34" autoAdjust="0"/>
    <p:restoredTop sz="65339" autoAdjust="0"/>
  </p:normalViewPr>
  <p:slideViewPr>
    <p:cSldViewPr snapToGrid="0">
      <p:cViewPr varScale="1">
        <p:scale>
          <a:sx n="74" d="100"/>
          <a:sy n="74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E6CA1-73F9-4D06-BD14-5B500087BCB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ECE31-156A-43C4-BE2C-FEB88429E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6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My name is Sherkhan. Today, I’m going to show you my project: the Secure File Exchange Portal.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51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This project is a </a:t>
            </a:r>
            <a:r>
              <a:rPr lang="en-US" b="1" dirty="0"/>
              <a:t>REST API</a:t>
            </a:r>
            <a:r>
              <a:rPr lang="en-US" b="0" dirty="0"/>
              <a:t> for temporary file sharing. A user </a:t>
            </a:r>
            <a:r>
              <a:rPr lang="en-US" b="1" dirty="0"/>
              <a:t>uploads a file</a:t>
            </a:r>
            <a:r>
              <a:rPr lang="en-US" b="0" dirty="0"/>
              <a:t>, gets a </a:t>
            </a:r>
            <a:r>
              <a:rPr lang="en-US" b="1" dirty="0"/>
              <a:t>download token</a:t>
            </a:r>
            <a:r>
              <a:rPr lang="en-US" b="0" dirty="0"/>
              <a:t>, and </a:t>
            </a:r>
            <a:r>
              <a:rPr lang="en-US" b="1" dirty="0"/>
              <a:t>sends the link</a:t>
            </a:r>
            <a:r>
              <a:rPr lang="en-US" b="0" dirty="0"/>
              <a:t>. </a:t>
            </a:r>
            <a:r>
              <a:rPr lang="en-US" dirty="0"/>
              <a:t>The recipient uses that token to download the file. </a:t>
            </a:r>
            <a:endParaRPr lang="en-US" b="0" dirty="0"/>
          </a:p>
          <a:p>
            <a:endParaRPr lang="en-US" b="0" dirty="0"/>
          </a:p>
          <a:p>
            <a:r>
              <a:rPr lang="en-US" dirty="0"/>
              <a:t>It is built with </a:t>
            </a:r>
            <a:r>
              <a:rPr lang="en-US" b="1" dirty="0" err="1"/>
              <a:t>FastAPI</a:t>
            </a:r>
            <a:r>
              <a:rPr lang="en-US" dirty="0"/>
              <a:t> in Python, uses </a:t>
            </a:r>
            <a:r>
              <a:rPr lang="en-US" b="1" dirty="0"/>
              <a:t>SQLite</a:t>
            </a:r>
            <a:r>
              <a:rPr lang="en-US" dirty="0"/>
              <a:t> for logs, and runs in </a:t>
            </a:r>
            <a:r>
              <a:rPr lang="en-US" b="1" dirty="0"/>
              <a:t>Docker</a:t>
            </a:r>
            <a:r>
              <a:rPr lang="en-US" dirty="0"/>
              <a:t>. As you can see, it has five simple endpoints.</a:t>
            </a:r>
            <a:endParaRPr lang="LID4096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38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chose this product for practical reasons.</a:t>
            </a:r>
          </a:p>
          <a:p>
            <a:endParaRPr lang="en-US" dirty="0"/>
          </a:p>
          <a:p>
            <a:r>
              <a:rPr lang="en-US" dirty="0"/>
              <a:t>First — it's </a:t>
            </a:r>
            <a:r>
              <a:rPr lang="en-US" b="1" dirty="0"/>
              <a:t>simple to build</a:t>
            </a:r>
            <a:r>
              <a:rPr lang="en-US" dirty="0"/>
              <a:t>. No complex business logic. I could focus on the </a:t>
            </a:r>
            <a:r>
              <a:rPr lang="en-US" b="1" dirty="0"/>
              <a:t>security side</a:t>
            </a:r>
            <a:r>
              <a:rPr lang="en-US" dirty="0"/>
              <a:t>, not the application side.</a:t>
            </a:r>
          </a:p>
          <a:p>
            <a:endParaRPr lang="en-US" dirty="0"/>
          </a:p>
          <a:p>
            <a:r>
              <a:rPr lang="en-US" dirty="0"/>
              <a:t>Second — it has </a:t>
            </a:r>
            <a:r>
              <a:rPr lang="en-US" b="0" dirty="0"/>
              <a:t>real attack vectors like </a:t>
            </a:r>
            <a:r>
              <a:rPr lang="en-US" b="1" dirty="0"/>
              <a:t>authentication gaps, unrestricted uploads</a:t>
            </a:r>
            <a:r>
              <a:rPr lang="en-US" dirty="0"/>
              <a:t>, and </a:t>
            </a:r>
            <a:r>
              <a:rPr lang="en-US" b="1" dirty="0"/>
              <a:t>token enumeration</a:t>
            </a:r>
            <a:r>
              <a:rPr lang="en-US" dirty="0"/>
              <a:t>. All testable with real tools.</a:t>
            </a:r>
          </a:p>
          <a:p>
            <a:endParaRPr lang="en-US" dirty="0"/>
          </a:p>
          <a:p>
            <a:r>
              <a:rPr lang="en-US" dirty="0"/>
              <a:t>I think, File sharing is something </a:t>
            </a:r>
            <a:r>
              <a:rPr lang="en-US" b="1" dirty="0"/>
              <a:t>everyone understands</a:t>
            </a:r>
            <a:r>
              <a:rPr lang="en-US" dirty="0"/>
              <a:t>. That made it easy to explain — and easy to break.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4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let's look at the </a:t>
            </a:r>
            <a:r>
              <a:rPr lang="en-US" b="1" dirty="0"/>
              <a:t>Top 3 Risks</a:t>
            </a:r>
            <a:r>
              <a:rPr lang="en-US" dirty="0"/>
              <a:t> from my threat model.</a:t>
            </a:r>
          </a:p>
          <a:p>
            <a:endParaRPr lang="en-US" dirty="0"/>
          </a:p>
          <a:p>
            <a:r>
              <a:rPr lang="en-US" b="1" dirty="0"/>
              <a:t>Risk number one</a:t>
            </a:r>
            <a:r>
              <a:rPr lang="en-US" dirty="0"/>
              <a:t> — and the most critical — is an </a:t>
            </a:r>
            <a:r>
              <a:rPr lang="en-US" b="1" dirty="0"/>
              <a:t>IDOR</a:t>
            </a:r>
            <a:r>
              <a:rPr lang="en-US" dirty="0"/>
              <a:t> vulnerability. </a:t>
            </a:r>
          </a:p>
          <a:p>
            <a:endParaRPr lang="en-US" dirty="0"/>
          </a:p>
          <a:p>
            <a:r>
              <a:rPr lang="en-US" dirty="0"/>
              <a:t>The download endpoint — has </a:t>
            </a:r>
            <a:r>
              <a:rPr lang="en-US" b="1" dirty="0"/>
              <a:t>no authentication</a:t>
            </a:r>
            <a:r>
              <a:rPr lang="en-US" dirty="0"/>
              <a:t>. Anyone with a token can download the file. No login. No check.</a:t>
            </a:r>
          </a:p>
          <a:p>
            <a:endParaRPr lang="en-US" dirty="0"/>
          </a:p>
          <a:p>
            <a:r>
              <a:rPr lang="en-US" dirty="0"/>
              <a:t>And there is </a:t>
            </a:r>
            <a:r>
              <a:rPr lang="en-US" b="1" dirty="0"/>
              <a:t>no rate limiting</a:t>
            </a:r>
            <a:r>
              <a:rPr lang="en-US" dirty="0"/>
              <a:t>. For example, I used a fuzzing tool called </a:t>
            </a:r>
            <a:r>
              <a:rPr lang="en-US" b="1" dirty="0" err="1"/>
              <a:t>fuff</a:t>
            </a:r>
            <a:r>
              <a:rPr lang="en-US" dirty="0"/>
              <a:t> to test this. The server allowed over five hundred requests per second without blocking me.</a:t>
            </a:r>
          </a:p>
          <a:p>
            <a:endParaRPr lang="en-US" dirty="0"/>
          </a:p>
          <a:p>
            <a:r>
              <a:rPr lang="en-US" dirty="0"/>
              <a:t>I believe this is a top risk because an attacker can easily brute-force tokens and </a:t>
            </a:r>
            <a:r>
              <a:rPr lang="en-US" b="1" dirty="0"/>
              <a:t>gain access to sensitive files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19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number two - is a </a:t>
            </a:r>
            <a:r>
              <a:rPr lang="en-US" b="1" dirty="0"/>
              <a:t>hardcoded API token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API password is written in </a:t>
            </a:r>
            <a:r>
              <a:rPr lang="en-US" b="1" dirty="0"/>
              <a:t>plaintext</a:t>
            </a:r>
            <a:r>
              <a:rPr lang="en-US" dirty="0"/>
              <a:t> in the </a:t>
            </a:r>
            <a:r>
              <a:rPr lang="en-US" sz="1200" b="1" dirty="0">
                <a:ea typeface="+mn-lt"/>
                <a:cs typeface="+mn-lt"/>
              </a:rPr>
              <a:t>docker-compose</a:t>
            </a:r>
            <a:r>
              <a:rPr lang="en-US" dirty="0"/>
              <a:t> file. And this file is on </a:t>
            </a:r>
            <a:r>
              <a:rPr lang="en-US" b="1" dirty="0"/>
              <a:t>GitHub</a:t>
            </a:r>
            <a:r>
              <a:rPr lang="en-US" dirty="0"/>
              <a:t>. So the password is </a:t>
            </a:r>
            <a:r>
              <a:rPr lang="en-US" b="1" dirty="0"/>
              <a:t>public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This is a </a:t>
            </a:r>
            <a:r>
              <a:rPr lang="en-US" b="1" dirty="0"/>
              <a:t>top risk</a:t>
            </a:r>
            <a:r>
              <a:rPr lang="en-US" dirty="0"/>
              <a:t> for two reasons. </a:t>
            </a:r>
          </a:p>
          <a:p>
            <a:endParaRPr lang="en-US" dirty="0"/>
          </a:p>
          <a:p>
            <a:r>
              <a:rPr lang="en-US" dirty="0"/>
              <a:t>First, anyone who finds it has full control over the system. </a:t>
            </a:r>
          </a:p>
          <a:p>
            <a:endParaRPr lang="en-US" dirty="0"/>
          </a:p>
          <a:p>
            <a:r>
              <a:rPr lang="en-US" dirty="0"/>
              <a:t>Second, because all users share </a:t>
            </a:r>
            <a:r>
              <a:rPr lang="en-US" b="1" dirty="0"/>
              <a:t>one</a:t>
            </a:r>
            <a:r>
              <a:rPr lang="en-US" dirty="0"/>
              <a:t> token, logs become blind. If an attack happens, there is </a:t>
            </a:r>
            <a:r>
              <a:rPr lang="en-US" b="1" dirty="0"/>
              <a:t>no accountability</a:t>
            </a:r>
            <a:r>
              <a:rPr lang="en-US" dirty="0"/>
              <a:t>. We cannot trace who did it.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14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final top risk - is </a:t>
            </a:r>
            <a:r>
              <a:rPr lang="en-US" b="1" dirty="0"/>
              <a:t>Unrestricted File Upload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dirty="0"/>
              <a:t>The upload endpoint has </a:t>
            </a:r>
            <a:r>
              <a:rPr lang="en-US" b="1" dirty="0"/>
              <a:t>no validation</a:t>
            </a:r>
            <a:r>
              <a:rPr lang="en-US" dirty="0"/>
              <a:t> for file types. A user can upload any file, including bash or PHP scripts.</a:t>
            </a:r>
          </a:p>
          <a:p>
            <a:endParaRPr lang="en-US" b="1" dirty="0"/>
          </a:p>
          <a:p>
            <a:r>
              <a:rPr lang="en-US" dirty="0"/>
              <a:t>This is a critical top risk for two main reasons.</a:t>
            </a:r>
          </a:p>
          <a:p>
            <a:endParaRPr lang="en-US" b="1" dirty="0"/>
          </a:p>
          <a:p>
            <a:r>
              <a:rPr lang="en-US" b="1" dirty="0"/>
              <a:t>First</a:t>
            </a:r>
            <a:r>
              <a:rPr lang="en-US" dirty="0"/>
              <a:t>, attackers can use it to distribute malware. They can upload a virus, create a link, and send it to anyone.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Second</a:t>
            </a:r>
            <a:r>
              <a:rPr lang="en-US" dirty="0"/>
              <a:t>, it can lead to Remote Code Execution. A malicious script can completely compromise the server.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3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 me show you my </a:t>
            </a:r>
            <a:r>
              <a:rPr lang="en-US" b="1" dirty="0"/>
              <a:t>OE Dashboard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 — </a:t>
            </a:r>
            <a:r>
              <a:rPr lang="en-US" b="1" dirty="0"/>
              <a:t>API status</a:t>
            </a:r>
            <a:r>
              <a:rPr lang="en-US" dirty="0"/>
              <a:t>. If it's </a:t>
            </a:r>
            <a:r>
              <a:rPr lang="en-US" b="1" dirty="0"/>
              <a:t>green</a:t>
            </a:r>
            <a:r>
              <a:rPr lang="en-US" dirty="0"/>
              <a:t>, the service is running.</a:t>
            </a:r>
          </a:p>
          <a:p>
            <a:endParaRPr lang="en-US" dirty="0"/>
          </a:p>
          <a:p>
            <a:r>
              <a:rPr lang="en-US" dirty="0"/>
              <a:t>Every event in the API — upload, download, failed attempt — is written to a </a:t>
            </a:r>
            <a:r>
              <a:rPr lang="en-US" b="1" dirty="0"/>
              <a:t>SQLite table</a:t>
            </a:r>
            <a:r>
              <a:rPr lang="en-US" dirty="0"/>
              <a:t> called </a:t>
            </a:r>
            <a:r>
              <a:rPr lang="en-US" dirty="0" err="1"/>
              <a:t>audit_log</a:t>
            </a:r>
            <a:r>
              <a:rPr lang="en-US" dirty="0"/>
              <a:t>. Grafana reads that table and shows it in </a:t>
            </a:r>
            <a:r>
              <a:rPr lang="en-US" b="1" dirty="0"/>
              <a:t>real time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b="1" dirty="0"/>
              <a:t>red Failed Downloads</a:t>
            </a:r>
            <a:r>
              <a:rPr lang="en-US" dirty="0"/>
              <a:t> panel — if this number spikes, someone is running </a:t>
            </a:r>
            <a:r>
              <a:rPr lang="en-US" b="1" dirty="0"/>
              <a:t>token enumeration</a:t>
            </a:r>
            <a:r>
              <a:rPr lang="en-US" dirty="0"/>
              <a:t>. That's Risk 1 in action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b="1" dirty="0"/>
              <a:t>last 10 uploaded files </a:t>
            </a:r>
            <a:r>
              <a:rPr lang="en-US" dirty="0"/>
              <a:t>— you can see filenames, file sizes, and timestamps.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below that — </a:t>
            </a:r>
            <a:r>
              <a:rPr lang="en-US" b="1" dirty="0"/>
              <a:t>Suspicious Uploads</a:t>
            </a:r>
            <a:r>
              <a:rPr lang="en-US" dirty="0"/>
              <a:t>. Any row here means someone uploaded a </a:t>
            </a:r>
            <a:r>
              <a:rPr lang="en-US" b="1" dirty="0"/>
              <a:t>.php, .</a:t>
            </a:r>
            <a:r>
              <a:rPr lang="en-US" b="1" dirty="0" err="1"/>
              <a:t>sh</a:t>
            </a:r>
            <a:r>
              <a:rPr lang="en-US" b="1" dirty="0"/>
              <a:t>, or .exe</a:t>
            </a:r>
            <a:r>
              <a:rPr lang="en-US" dirty="0"/>
              <a:t> file. This is how I detect </a:t>
            </a:r>
            <a:r>
              <a:rPr lang="en-US" b="1" dirty="0"/>
              <a:t>malicious file uploads</a:t>
            </a:r>
            <a:r>
              <a:rPr lang="en-US" dirty="0"/>
              <a:t> in real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At the bottom — </a:t>
            </a:r>
            <a:r>
              <a:rPr lang="en-US" b="1" dirty="0">
                <a:effectLst/>
              </a:rPr>
              <a:t>storage used</a:t>
            </a:r>
            <a:r>
              <a:rPr lang="en-US" dirty="0">
                <a:effectLst/>
              </a:rPr>
              <a:t>. My limit is 20 megabytes. At 19 megabytes — it shows </a:t>
            </a:r>
            <a:r>
              <a:rPr lang="en-US" b="1" dirty="0">
                <a:effectLst/>
              </a:rPr>
              <a:t>red</a:t>
            </a:r>
            <a:r>
              <a:rPr lang="en-US" dirty="0">
                <a:effectLst/>
              </a:rPr>
              <a:t>. </a:t>
            </a:r>
            <a:r>
              <a:rPr lang="en-US"/>
              <a:t>That's how I know when storage is almost full.</a:t>
            </a:r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95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my presentation.</a:t>
            </a:r>
          </a:p>
          <a:p>
            <a:endParaRPr lang="en-US" dirty="0"/>
          </a:p>
          <a:p>
            <a:r>
              <a:rPr lang="en-US" dirty="0"/>
              <a:t>The full project — code, threat model, security testing — is on GitHub. You can scan the QR code here.</a:t>
            </a:r>
          </a:p>
          <a:p>
            <a:endParaRPr lang="en-US" dirty="0"/>
          </a:p>
          <a:p>
            <a:r>
              <a:rPr lang="en-US" dirty="0"/>
              <a:t>Thank you.</a:t>
            </a:r>
          </a:p>
          <a:p>
            <a:endParaRPr lang="en-US" dirty="0"/>
          </a:p>
          <a:p>
            <a:r>
              <a:rPr lang="en-US" b="1" dirty="0"/>
              <a:t>1. Why did you choose SQLite instead of a real database like PostgreSQL?</a:t>
            </a:r>
            <a:endParaRPr lang="en-US" dirty="0"/>
          </a:p>
          <a:p>
            <a:r>
              <a:rPr lang="en-US" dirty="0"/>
              <a:t>SQLite is simple to run in Docker — no extra container needed. For a POC project with one user, it's fine. In production I would switch to PostgreSQL.</a:t>
            </a:r>
          </a:p>
          <a:p>
            <a:endParaRPr lang="en-US" dirty="0"/>
          </a:p>
          <a:p>
            <a:r>
              <a:rPr lang="en-US" b="1" dirty="0"/>
              <a:t>2. How would you fix the IDOR vulnerability?</a:t>
            </a:r>
            <a:endParaRPr lang="en-US" dirty="0"/>
          </a:p>
          <a:p>
            <a:r>
              <a:rPr lang="en-US" dirty="0"/>
              <a:t>Add Depends(</a:t>
            </a:r>
            <a:r>
              <a:rPr lang="en-US" dirty="0" err="1"/>
              <a:t>require_auth</a:t>
            </a:r>
            <a:r>
              <a:rPr lang="en-US" dirty="0"/>
              <a:t>) to the download endpoint. One line of code. I also need rate limiting — maximum 5 requests per minute per IP.</a:t>
            </a:r>
          </a:p>
          <a:p>
            <a:endParaRPr lang="en-US" dirty="0"/>
          </a:p>
          <a:p>
            <a:r>
              <a:rPr lang="en-US" b="1" dirty="0"/>
              <a:t>3. If the API token is already on GitHub, isn't the system already compromised?</a:t>
            </a:r>
            <a:endParaRPr lang="en-US" dirty="0"/>
          </a:p>
          <a:p>
            <a:r>
              <a:rPr lang="en-US" dirty="0"/>
              <a:t>Yes — that's exactly the point. This is an intentionally vulnerable system for security analysis. In production, the token would be in Docker Secrets, not in the config file.</a:t>
            </a:r>
          </a:p>
          <a:p>
            <a:endParaRPr lang="en-US" dirty="0"/>
          </a:p>
          <a:p>
            <a:r>
              <a:rPr lang="en-US" b="1" dirty="0"/>
              <a:t>4. How does Grafana get data from SQLite?</a:t>
            </a:r>
            <a:endParaRPr lang="en-US" dirty="0"/>
          </a:p>
          <a:p>
            <a:r>
              <a:rPr lang="en-US" dirty="0"/>
              <a:t>I use a plugin called </a:t>
            </a:r>
            <a:r>
              <a:rPr lang="en-US" dirty="0" err="1"/>
              <a:t>frser</a:t>
            </a:r>
            <a:r>
              <a:rPr lang="en-US" dirty="0"/>
              <a:t>-</a:t>
            </a:r>
            <a:r>
              <a:rPr lang="en-US" dirty="0" err="1"/>
              <a:t>sqlite</a:t>
            </a:r>
            <a:r>
              <a:rPr lang="en-US" dirty="0"/>
              <a:t>-datasource. Grafana mounts the same Docker volume as the API — read-only. Then I write SQL queries directly in Grafana panels.</a:t>
            </a:r>
          </a:p>
          <a:p>
            <a:endParaRPr lang="en-US" dirty="0"/>
          </a:p>
          <a:p>
            <a:r>
              <a:rPr lang="en-US" b="1" dirty="0"/>
              <a:t>5. What happens if someone uploads a 1GB file?</a:t>
            </a:r>
            <a:endParaRPr lang="en-US" dirty="0"/>
          </a:p>
          <a:p>
            <a:r>
              <a:rPr lang="en-US" dirty="0"/>
              <a:t>The API rejects it. There is a hard limit — 20 megabytes — set in docker-compose.yml. Anything bigger returns HTTP 413.</a:t>
            </a:r>
          </a:p>
          <a:p>
            <a:endParaRPr lang="en-US" dirty="0"/>
          </a:p>
          <a:p>
            <a:r>
              <a:rPr lang="en-US" b="1" dirty="0"/>
              <a:t>6. Can the PHP </a:t>
            </a:r>
            <a:r>
              <a:rPr lang="en-US" b="1" dirty="0" err="1"/>
              <a:t>webshell</a:t>
            </a:r>
            <a:r>
              <a:rPr lang="en-US" b="1" dirty="0"/>
              <a:t> actually execute on your system?</a:t>
            </a:r>
            <a:endParaRPr lang="en-US" dirty="0"/>
          </a:p>
          <a:p>
            <a:r>
              <a:rPr lang="en-US" dirty="0"/>
              <a:t>No — not in the current setup. </a:t>
            </a:r>
            <a:r>
              <a:rPr lang="en-US" dirty="0" err="1"/>
              <a:t>FastAPI</a:t>
            </a:r>
            <a:r>
              <a:rPr lang="en-US" dirty="0"/>
              <a:t> serves it as a download, not as a script. But if someone puts an nginx or Apache server in front of the files folder — it becomes remote code execution.</a:t>
            </a:r>
          </a:p>
          <a:p>
            <a:endParaRPr lang="en-US" dirty="0"/>
          </a:p>
          <a:p>
            <a:r>
              <a:rPr lang="en-US" b="1" dirty="0"/>
              <a:t>7. How is this different from just using Google Drive with an expiry link?</a:t>
            </a:r>
            <a:endParaRPr lang="en-US" dirty="0"/>
          </a:p>
          <a:p>
            <a:r>
              <a:rPr lang="en-US" dirty="0"/>
              <a:t>Google Drive doesn't give you full audit logs, programmatic revocation via API, or the ability to build intentional vulnerabilities for security testing. This is a controlled environment.</a:t>
            </a:r>
          </a:p>
          <a:p>
            <a:endParaRPr lang="en-US" dirty="0"/>
          </a:p>
          <a:p>
            <a:r>
              <a:rPr lang="en-US" b="1" dirty="0"/>
              <a:t>8. What would you do first if Failed Downloads spiked to 100?</a:t>
            </a:r>
            <a:endParaRPr lang="en-US" dirty="0"/>
          </a:p>
          <a:p>
            <a:r>
              <a:rPr lang="en-US" dirty="0"/>
              <a:t>First — check the audit log to confirm it's enumeration. Then block at the network level. Then add rate limiting to the download endpoint. Then rotate all active tokens.</a:t>
            </a:r>
          </a:p>
          <a:p>
            <a:endParaRPr lang="en-US" dirty="0"/>
          </a:p>
          <a:p>
            <a:r>
              <a:rPr lang="en-US" b="1" dirty="0"/>
              <a:t>9. Why is there no HTTPS?</a:t>
            </a:r>
            <a:endParaRPr lang="en-US" dirty="0"/>
          </a:p>
          <a:p>
            <a:r>
              <a:rPr lang="en-US" dirty="0"/>
              <a:t>It's a known gap — listed as Threat 5 in my threat model. The fix is an nginx reverse proxy with TLS in a separate container. Out of scope for this version.</a:t>
            </a:r>
          </a:p>
          <a:p>
            <a:endParaRPr lang="en-US" dirty="0"/>
          </a:p>
          <a:p>
            <a:r>
              <a:rPr lang="en-US" b="1" dirty="0"/>
              <a:t>10. What would you build next if you had more time?</a:t>
            </a:r>
            <a:endParaRPr lang="en-US" dirty="0"/>
          </a:p>
          <a:p>
            <a:r>
              <a:rPr lang="en-US" dirty="0"/>
              <a:t>Three things — add authentication to the download endpoint, move the API token to Docker Secrets, and add rate limiting with </a:t>
            </a:r>
            <a:r>
              <a:rPr lang="en-US" dirty="0" err="1"/>
              <a:t>slowapi</a:t>
            </a:r>
            <a:r>
              <a:rPr lang="en-US" dirty="0"/>
              <a:t>. These are the P0 items in my remediation roadmap.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ECE31-156A-43C4-BE2C-FEB88429EB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79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26CC-C0BB-CD14-FB7F-585915567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D0861-C858-3CB4-CCF7-6AE7630B0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FC1B2-FDDA-45E1-E2DA-02A48F00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17496-DD45-FF4D-9F3A-72FB06A3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36356-0CAC-BD33-2169-48BBCC17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6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BB8C-E4B3-723A-0980-DA59CB98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278B-7D00-F4B8-0BF6-4A1B05E9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8F7D9-3F1F-6BA9-E2A9-D2438039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1F63D-5D2C-5BE7-FE88-BDB97048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DBA8-D60F-8423-C436-14CD6BB2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8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7A29-BA39-AE6A-6E18-C0F5DC41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86A16-2BEB-8E77-1864-49A76D82B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6FDB7-8ACE-8B24-452E-51252F6C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3FBF6-E63E-3046-CC6F-612BDEC6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6EBEA-6F21-EACA-DBF7-C53AF1F6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9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6C48-B7FC-B2B0-12D3-1096F2A6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40CC2-C111-307F-71A5-AA986AF14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0E96E-E9FB-0EAB-6E42-CD7F27B32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16BB9-D2EB-220D-FF28-4A9470A1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DF2E2-9032-CD80-EA89-471120A7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5B21A-B453-7DE8-3997-79F1FD4F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1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8814-ED81-3AE1-FF48-E194E5B2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64922-085B-AD24-9BBF-63FFB619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C9D9C-D4CE-60B4-DCAF-C7A15DB27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05772-EAB5-C084-59C8-790CC53BB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5AC85-7685-DF4D-6A6B-A5825CE3E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D8DC3-61BC-AF36-1F5D-B4556D6C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16577-3B07-9E3A-1223-D10E98A7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62280-3751-8203-2F6E-8CD7011A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8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3039-8E5F-2008-C6E3-7D34C44C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766C0-AF7A-A139-8B29-2256E217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6652F-05FE-7E01-6EF3-2EF724F4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B1275-DEF9-A727-42FA-41BB08A2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1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71A9C-95BF-3140-38FE-6B40F731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8700D-EFE2-9AC1-EF74-5933CBD7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3A326-178D-FA9F-A763-3EC402E13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1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1B43-4AA8-0CE4-2770-56E2CDAE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E9AF4-28DA-819C-ED02-4ADCB5889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DE54E-3D67-AFC5-9F37-DAB2BAADB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0EAF8-5259-E21B-91B9-4A95093F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2B3BB-C335-C785-F0FA-2293C13C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74AD2-3342-D107-EADA-B6F610422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3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FF84-1A10-551D-F6F0-3FDB0A95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F205D-001F-4F6C-3692-F5EFBCD2E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03040-CBD2-FF2F-3D04-7335A03F9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E6EEE-D58A-92C1-BBE3-FCF35BC4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0F03F-7082-337A-E9B2-679F1F5A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6176D-04E0-72B9-6248-13A3364F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9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14A-9D7F-3037-FF68-78F54A19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97031-DA15-6761-8FDC-0365E4E92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5F1D5-5B51-6E3A-0A7E-67D7CF9C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85FB9-47C5-48F8-AA4F-FD38C24B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C9CE-879A-9C17-06EB-5729FAC9E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5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F5804-831F-C802-4CD3-6B58118C9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7F57C-434C-994C-4952-94A7A9AE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AB1BE-8101-0A38-BFE6-4D7D7F81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312A7-B2D9-704C-FB9C-1E0B4F0C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08E43-A7A4-D5DF-B357-A5BE79B6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0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8CCE2-343B-118A-EC75-7EE14541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170B8-D7C4-442D-6AFB-2E804069F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D2EB0-A2C6-CB67-69BE-5595096AD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EA9A4-4F9B-4476-A52D-BFB8EAA1772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6794-F8D9-B837-E06C-E2E477F56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F6205-4FE1-60C2-480F-ABE89654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70109-42E0-4346-B9D8-744C5F644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9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9F9C7-5116-06AD-1EE6-3068B7FD0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dirty="0"/>
              <a:t>Secure File Exchange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2C01A-7B9D-7F36-2665-63CFEFF25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1500" dirty="0"/>
              <a:t>CSS 519 A – Incident Response and Risk Management</a:t>
            </a:r>
          </a:p>
          <a:p>
            <a:r>
              <a:rPr lang="en-US" sz="1500" dirty="0"/>
              <a:t>Sherkhan Zakiryanov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51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640A-B9CE-F5F9-8A81-0B6DC1D4B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</a:t>
            </a:r>
            <a:r>
              <a:rPr lang="en-US">
                <a:ea typeface="+mj-lt"/>
                <a:cs typeface="+mj-lt"/>
              </a:rPr>
              <a:t> Is This Product?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D9C7-52ED-D82E-2A37-64A394AD1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API service for temporary file sharing </a:t>
            </a:r>
          </a:p>
          <a:p>
            <a:r>
              <a:rPr lang="en-US" dirty="0">
                <a:ea typeface="+mn-lt"/>
                <a:cs typeface="+mn-lt"/>
              </a:rPr>
              <a:t>Built with </a:t>
            </a:r>
            <a:r>
              <a:rPr lang="en-US" dirty="0" err="1">
                <a:ea typeface="+mn-lt"/>
                <a:cs typeface="+mn-lt"/>
              </a:rPr>
              <a:t>FastAPI</a:t>
            </a:r>
            <a:r>
              <a:rPr lang="en-US" dirty="0">
                <a:ea typeface="+mn-lt"/>
                <a:cs typeface="+mn-lt"/>
              </a:rPr>
              <a:t> (Python), SQLite, Docker</a:t>
            </a:r>
          </a:p>
          <a:p>
            <a:endParaRPr lang="en-US" sz="7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5 endpoints</a:t>
            </a:r>
            <a:endParaRPr lang="en-US"/>
          </a:p>
        </p:txBody>
      </p:sp>
      <p:pic>
        <p:nvPicPr>
          <p:cNvPr id="4" name="Рисунок 3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DFBF44-CAA6-C881-9195-DCA6530B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40" y="3565948"/>
            <a:ext cx="10928959" cy="218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0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F800-71EA-46E2-D74F-99B2DC73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This Product?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DB6C-287B-314A-E368-3CBA59AA0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Simple to build in one quarter </a:t>
            </a:r>
          </a:p>
          <a:p>
            <a:pPr marL="0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Real attack vectors to test </a:t>
            </a:r>
          </a:p>
          <a:p>
            <a:pPr marL="0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Easy to make intentionally vulnerable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→ File sharing — everyone understands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36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4621-BC18-6A27-CA1C-EDAC3093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Risk 1: Unauthenticated Download (IDOR)</a:t>
            </a:r>
            <a:endParaRPr lang="ru-RU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7A494-20C8-5381-D117-BCF230788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737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❌</a:t>
            </a:r>
            <a:r>
              <a:rPr lang="en-US" sz="2400" b="1" dirty="0">
                <a:ea typeface="+mn-lt"/>
                <a:cs typeface="+mn-lt"/>
              </a:rPr>
              <a:t> /download/{token}</a:t>
            </a:r>
            <a:r>
              <a:rPr lang="en-US" sz="2400" dirty="0">
                <a:ea typeface="+mn-lt"/>
                <a:cs typeface="+mn-lt"/>
              </a:rPr>
              <a:t> has no authentication</a:t>
            </a:r>
            <a:endParaRPr lang="ru-RU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ru-RU" sz="11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❌ No rate limiting </a:t>
            </a:r>
            <a:endParaRPr lang="ru-RU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1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❌ Token valid for unlimited downloads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/>
              <a:t>Proved with </a:t>
            </a:r>
            <a:r>
              <a:rPr lang="en-US" sz="2400" b="1" dirty="0"/>
              <a:t>fuzzing tool (ffuf)</a:t>
            </a:r>
            <a:r>
              <a:rPr lang="en-US" sz="2400" dirty="0"/>
              <a:t>: 549 req/sec, 0 errors</a:t>
            </a: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88ED1B-0B5E-F1AF-A78C-4308AE1A1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691" b="27302"/>
          <a:stretch>
            <a:fillRect/>
          </a:stretch>
        </p:blipFill>
        <p:spPr>
          <a:xfrm>
            <a:off x="5410609" y="1825817"/>
            <a:ext cx="6110628" cy="434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5351-9E66-DFEE-55D8-24587BF8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5DA4-5767-50B4-C11A-8A57574C7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Risk 2: Hardcoded API Token 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6D121-3741-5DFC-0251-AC2914100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266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❌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Token in plaintext in </a:t>
            </a:r>
            <a:r>
              <a:rPr lang="en-US" sz="2400" b="1" dirty="0">
                <a:ea typeface="+mn-lt"/>
                <a:cs typeface="+mn-lt"/>
              </a:rPr>
              <a:t>docker-</a:t>
            </a:r>
            <a:r>
              <a:rPr lang="en-US" sz="2400" b="1" dirty="0" err="1">
                <a:ea typeface="+mn-lt"/>
                <a:cs typeface="+mn-lt"/>
              </a:rPr>
              <a:t>compose.yml</a:t>
            </a:r>
            <a:endParaRPr lang="en-US" sz="2400" b="1" dirty="0">
              <a:ea typeface="+mn-lt"/>
              <a:cs typeface="+mn-lt"/>
            </a:endParaRPr>
          </a:p>
          <a:p>
            <a:pPr marL="0" indent="0">
              <a:buNone/>
            </a:pPr>
            <a:endParaRPr lang="ru-RU" sz="11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❌ Committed to GitHub — permanent exposure</a:t>
            </a:r>
            <a:endParaRPr lang="ru-RU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1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❌ One token for all users — no attribution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486D6A-C4A3-6691-7ABE-87C2C7CC4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22" r="22746" b="427"/>
          <a:stretch>
            <a:fillRect/>
          </a:stretch>
        </p:blipFill>
        <p:spPr>
          <a:xfrm>
            <a:off x="836951" y="3993188"/>
            <a:ext cx="9418820" cy="225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9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DDF76-F1F5-AC17-0905-1608E367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F4B7-0B98-72ED-EC50-7F0FF3DB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Risk 3: Unrestricted File Upload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4C26-B911-44F2-2C02-59BA14F84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266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❌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No file type validation</a:t>
            </a:r>
            <a:endParaRPr lang="en-US" sz="2400" b="1" dirty="0">
              <a:ea typeface="+mn-lt"/>
              <a:cs typeface="+mn-lt"/>
            </a:endParaRPr>
          </a:p>
          <a:p>
            <a:pPr marL="0" indent="0">
              <a:buNone/>
            </a:pPr>
            <a:endParaRPr lang="ru-RU" sz="11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❌ </a:t>
            </a:r>
            <a:r>
              <a:rPr lang="en-US" sz="2400" b="1" dirty="0">
                <a:ea typeface="+mn-lt"/>
                <a:cs typeface="+mn-lt"/>
              </a:rPr>
              <a:t>.</a:t>
            </a:r>
            <a:r>
              <a:rPr lang="en-US" sz="2400" b="1" err="1">
                <a:ea typeface="+mn-lt"/>
                <a:cs typeface="+mn-lt"/>
              </a:rPr>
              <a:t>php</a:t>
            </a:r>
            <a:r>
              <a:rPr lang="en-US" sz="2400" b="1" dirty="0">
                <a:ea typeface="+mn-lt"/>
                <a:cs typeface="+mn-lt"/>
              </a:rPr>
              <a:t>, .</a:t>
            </a:r>
            <a:r>
              <a:rPr lang="en-US" sz="2400" b="1" err="1">
                <a:ea typeface="+mn-lt"/>
                <a:cs typeface="+mn-lt"/>
              </a:rPr>
              <a:t>sh</a:t>
            </a:r>
            <a:r>
              <a:rPr lang="en-US" sz="2400" b="1" dirty="0">
                <a:ea typeface="+mn-lt"/>
                <a:cs typeface="+mn-lt"/>
              </a:rPr>
              <a:t>, .exe</a:t>
            </a:r>
            <a:r>
              <a:rPr lang="en-US" sz="2400" dirty="0">
                <a:ea typeface="+mn-lt"/>
                <a:cs typeface="+mn-lt"/>
              </a:rPr>
              <a:t> — all accepted</a:t>
            </a:r>
          </a:p>
          <a:p>
            <a:pPr marL="0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Full attack chain: upload → share link → deliver malware </a:t>
            </a:r>
            <a:endParaRPr lang="en-US" sz="2400"/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D11766-B3E9-A95A-B91F-E11F5A7C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3" r="20492" b="62632"/>
          <a:stretch>
            <a:fillRect/>
          </a:stretch>
        </p:blipFill>
        <p:spPr>
          <a:xfrm>
            <a:off x="840441" y="4000181"/>
            <a:ext cx="9706152" cy="217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9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97EF-657F-896A-E4CD-1B1F8B30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lt"/>
                <a:cs typeface="+mj-lt"/>
              </a:rPr>
              <a:t>OE Dashboard: </a:t>
            </a:r>
            <a:r>
              <a:rPr lang="ru-RU" sz="3600" dirty="0">
                <a:ea typeface="+mj-lt"/>
                <a:cs typeface="+mj-lt"/>
              </a:rPr>
              <a:t>FastAPI → SQLite audit_log → </a:t>
            </a:r>
            <a:r>
              <a:rPr lang="ru-RU" sz="3600">
                <a:ea typeface="+mj-lt"/>
                <a:cs typeface="+mj-lt"/>
              </a:rPr>
              <a:t>Grafana</a:t>
            </a:r>
            <a:endParaRPr lang="ru-RU" sz="3600" dirty="0">
              <a:ea typeface="+mj-lt"/>
              <a:cs typeface="+mj-lt"/>
            </a:endParaRPr>
          </a:p>
        </p:txBody>
      </p:sp>
      <p:pic>
        <p:nvPicPr>
          <p:cNvPr id="8" name="Рисунок 7" descr="Изображение выглядит как текст, снимок экрана, число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9896B3-ACF6-8DE2-9D13-06F98B8D3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92" y="1516418"/>
            <a:ext cx="9844217" cy="496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86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24E3-5B1B-4E7D-80D0-0C53A409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Secure File Exchange Portal</a:t>
            </a:r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51FD15-07E6-A878-73DC-0751C6063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774" y="2325297"/>
            <a:ext cx="6818026" cy="29897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4000">
                <a:ea typeface="+mn-lt"/>
                <a:cs typeface="+mn-lt"/>
              </a:rPr>
              <a:t>Thank you</a:t>
            </a:r>
            <a:endParaRPr lang="ru-RU"/>
          </a:p>
          <a:p>
            <a:pPr marL="0" indent="0">
              <a:buNone/>
            </a:pPr>
            <a:endParaRPr lang="ru-RU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ru-RU" sz="2300">
                <a:ea typeface="+mn-lt"/>
                <a:cs typeface="+mn-lt"/>
              </a:rPr>
              <a:t>github.com/sherkhanz/secure-file-exchange-portal</a:t>
            </a:r>
            <a:endParaRPr lang="ru-RU" sz="2300"/>
          </a:p>
        </p:txBody>
      </p:sp>
      <p:pic>
        <p:nvPicPr>
          <p:cNvPr id="8" name="Рисунок 7" descr="Изображение выглядит как шаблон, Графика, прямоугольный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F1A9A1-6595-C6DC-5E39-3FF362644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66" y="2325037"/>
            <a:ext cx="2857500" cy="28575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381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2226</TotalTime>
  <Words>1305</Words>
  <Application>Microsoft Office PowerPoint</Application>
  <PresentationFormat>Widescreen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Secure File Exchange Portal</vt:lpstr>
      <vt:lpstr>What Is This Product?</vt:lpstr>
      <vt:lpstr>Why This Product?</vt:lpstr>
      <vt:lpstr>Risk 1: Unauthenticated Download (IDOR)</vt:lpstr>
      <vt:lpstr>Risk 2: Hardcoded API Token </vt:lpstr>
      <vt:lpstr>Risk 3: Unrestricted File Upload</vt:lpstr>
      <vt:lpstr>OE Dashboard: FastAPI → SQLite audit_log → Grafana</vt:lpstr>
      <vt:lpstr>Secure File Exchange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File Exchange Portal</dc:title>
  <dc:creator>Hansel Ong</dc:creator>
  <cp:lastModifiedBy>Sherkhan</cp:lastModifiedBy>
  <cp:revision>713</cp:revision>
  <dcterms:created xsi:type="dcterms:W3CDTF">2026-03-24T20:35:38Z</dcterms:created>
  <dcterms:modified xsi:type="dcterms:W3CDTF">2026-04-22T02:22:07Z</dcterms:modified>
</cp:coreProperties>
</file>